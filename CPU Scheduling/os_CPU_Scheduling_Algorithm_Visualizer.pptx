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1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3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4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6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2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1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2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5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9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1" r:id="rId6"/>
    <p:sldLayoutId id="2147483767" r:id="rId7"/>
    <p:sldLayoutId id="2147483768" r:id="rId8"/>
    <p:sldLayoutId id="2147483769" r:id="rId9"/>
    <p:sldLayoutId id="2147483770" r:id="rId10"/>
    <p:sldLayoutId id="21474837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s/photo/1130888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idea-symbol-innovation-logo-3383766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scienceblog.net/?lang=tr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5D8E37F-B926-4EDC-B832-034AD1BBD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71EB58-24E3-79BC-4C77-BFBC8B0DF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077" y="846540"/>
            <a:ext cx="10267741" cy="1807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CPU Scheduling </a:t>
            </a:r>
            <a:r>
              <a:rPr lang="en-US" sz="4800" dirty="0">
                <a:latin typeface="Aharoni" panose="02010803020104030203" pitchFamily="2" charset="-79"/>
                <a:cs typeface="Aharoni" panose="02010803020104030203" pitchFamily="2" charset="-79"/>
              </a:rPr>
              <a:t>Algorithm</a:t>
            </a:r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 Visualizer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24F1C-4656-7573-0AE2-622373F1A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077" y="3858567"/>
            <a:ext cx="7142706" cy="31024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/>
            <a:r>
              <a:rPr lang="en-US" sz="2200" b="1" i="1" dirty="0"/>
              <a:t>An Operating System(SE) Project</a:t>
            </a:r>
          </a:p>
          <a:p>
            <a:pPr indent="-228600"/>
            <a:r>
              <a:rPr lang="en-US" sz="2200" i="1" dirty="0"/>
              <a:t>Presented by: Somil, Pratham, Khushi, Dikshant</a:t>
            </a:r>
          </a:p>
          <a:p>
            <a:pPr indent="-228600"/>
            <a:r>
              <a:rPr lang="en-US" sz="2200" i="1" dirty="0"/>
              <a:t>Under the guidance of: Dr. Ankit Tomar</a:t>
            </a:r>
          </a:p>
          <a:p>
            <a:pPr indent="-228600"/>
            <a:endParaRPr lang="en-US" sz="2200" i="1" dirty="0"/>
          </a:p>
        </p:txBody>
      </p:sp>
      <p:pic>
        <p:nvPicPr>
          <p:cNvPr id="4" name="Picture 3" descr="101010 data lines to infinity">
            <a:extLst>
              <a:ext uri="{FF2B5EF4-FFF2-40B4-BE49-F238E27FC236}">
                <a16:creationId xmlns:a16="http://schemas.microsoft.com/office/drawing/2014/main" id="{F39748BD-7A6A-6756-7E9E-FA9AB3B206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28" r="-2" b="-2"/>
          <a:stretch/>
        </p:blipFill>
        <p:spPr>
          <a:xfrm>
            <a:off x="3862670" y="2156616"/>
            <a:ext cx="8329331" cy="4701384"/>
          </a:xfrm>
          <a:custGeom>
            <a:avLst/>
            <a:gdLst/>
            <a:ahLst/>
            <a:cxnLst/>
            <a:rect l="l" t="t" r="r" b="b"/>
            <a:pathLst>
              <a:path w="8329331" h="4701384">
                <a:moveTo>
                  <a:pt x="7047184" y="406"/>
                </a:moveTo>
                <a:cubicBezTo>
                  <a:pt x="7473044" y="7480"/>
                  <a:pt x="7895572" y="106955"/>
                  <a:pt x="8282506" y="294946"/>
                </a:cubicBezTo>
                <a:lnTo>
                  <a:pt x="8329331" y="319324"/>
                </a:lnTo>
                <a:lnTo>
                  <a:pt x="8329331" y="4701384"/>
                </a:lnTo>
                <a:lnTo>
                  <a:pt x="0" y="4701384"/>
                </a:lnTo>
                <a:lnTo>
                  <a:pt x="5251843" y="580406"/>
                </a:lnTo>
                <a:lnTo>
                  <a:pt x="5312648" y="535110"/>
                </a:lnTo>
                <a:cubicBezTo>
                  <a:pt x="5787318" y="199904"/>
                  <a:pt x="6331234" y="25089"/>
                  <a:pt x="6876738" y="2514"/>
                </a:cubicBezTo>
                <a:cubicBezTo>
                  <a:pt x="6933561" y="163"/>
                  <a:pt x="6990402" y="-537"/>
                  <a:pt x="7047184" y="40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6486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C8CC9-D82E-C9D4-BBAE-568F438A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71" y="230485"/>
            <a:ext cx="8606346" cy="1257299"/>
          </a:xfrm>
        </p:spPr>
        <p:txBody>
          <a:bodyPr anchor="ctr">
            <a:normAutofit/>
          </a:bodyPr>
          <a:lstStyle/>
          <a:p>
            <a:r>
              <a:rPr lang="en-IN" sz="4400" dirty="0">
                <a:latin typeface="Aharoni" panose="02010803020104030203" pitchFamily="2" charset="-79"/>
                <a:cs typeface="Aharoni" panose="02010803020104030203" pitchFamily="2" charset="-79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D565-050B-3328-4965-431C39D33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71" y="1502227"/>
            <a:ext cx="8804790" cy="454461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700" dirty="0"/>
              <a:t>The objective of the project includes:</a:t>
            </a:r>
          </a:p>
          <a:p>
            <a:pPr>
              <a:lnSpc>
                <a:spcPct val="110000"/>
              </a:lnSpc>
            </a:pPr>
            <a:r>
              <a:rPr lang="en-IN" sz="1700" dirty="0"/>
              <a:t>T</a:t>
            </a:r>
            <a:r>
              <a:rPr lang="en-US" sz="1700" dirty="0"/>
              <a:t>o develop a </a:t>
            </a:r>
            <a:r>
              <a:rPr lang="en-US" sz="1700" b="1" dirty="0"/>
              <a:t>website</a:t>
            </a:r>
            <a:r>
              <a:rPr lang="en-US" sz="1700" dirty="0"/>
              <a:t> that visually demonstrates how different </a:t>
            </a:r>
            <a:r>
              <a:rPr lang="en-US" sz="1700" b="1" dirty="0"/>
              <a:t>CPU scheduling algorithms</a:t>
            </a:r>
            <a:r>
              <a:rPr lang="en-US" sz="1700" dirty="0"/>
              <a:t> operate.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To help users </a:t>
            </a:r>
            <a:r>
              <a:rPr lang="en-US" sz="1700" b="1" dirty="0"/>
              <a:t>understand and compare</a:t>
            </a:r>
            <a:r>
              <a:rPr lang="en-US" sz="1700" dirty="0"/>
              <a:t> the execution of:	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FCFS (First Come First Serve)</a:t>
            </a:r>
          </a:p>
          <a:p>
            <a:pPr lvl="1">
              <a:lnSpc>
                <a:spcPct val="110000"/>
              </a:lnSpc>
            </a:pPr>
            <a:r>
              <a:rPr lang="en-IN" sz="1700" dirty="0"/>
              <a:t>SJF (Shortest Job First)</a:t>
            </a:r>
            <a:endParaRPr lang="en-US" sz="1700" dirty="0"/>
          </a:p>
          <a:p>
            <a:pPr lvl="1">
              <a:lnSpc>
                <a:spcPct val="110000"/>
              </a:lnSpc>
            </a:pPr>
            <a:r>
              <a:rPr lang="en-IN" sz="1700" dirty="0"/>
              <a:t>Round Robin</a:t>
            </a:r>
            <a:endParaRPr lang="en-US" sz="1700" dirty="0"/>
          </a:p>
          <a:p>
            <a:pPr lvl="1">
              <a:lnSpc>
                <a:spcPct val="110000"/>
              </a:lnSpc>
            </a:pPr>
            <a:r>
              <a:rPr lang="en-IN" sz="1700" dirty="0"/>
              <a:t>Priority Scheduling</a:t>
            </a:r>
            <a:endParaRPr lang="en-US" sz="1700" dirty="0"/>
          </a:p>
          <a:p>
            <a:pPr>
              <a:lnSpc>
                <a:spcPct val="110000"/>
              </a:lnSpc>
            </a:pPr>
            <a:r>
              <a:rPr lang="en-US" sz="1700" dirty="0"/>
              <a:t>To </a:t>
            </a:r>
            <a:r>
              <a:rPr lang="en-US" sz="1700" b="1" dirty="0"/>
              <a:t>visualize outputs</a:t>
            </a:r>
            <a:r>
              <a:rPr lang="en-US" sz="1700" dirty="0"/>
              <a:t> such as </a:t>
            </a:r>
            <a:r>
              <a:rPr lang="en-US" sz="1700" b="1" dirty="0"/>
              <a:t>Gantt Charts</a:t>
            </a:r>
            <a:r>
              <a:rPr lang="en-US" sz="1700" dirty="0"/>
              <a:t>, </a:t>
            </a:r>
            <a:r>
              <a:rPr lang="en-US" sz="1700" b="1" dirty="0"/>
              <a:t>average waiting time</a:t>
            </a:r>
            <a:r>
              <a:rPr lang="en-US" sz="1700" dirty="0"/>
              <a:t>, and </a:t>
            </a:r>
            <a:r>
              <a:rPr lang="en-US" sz="1700" b="1" dirty="0"/>
              <a:t>turnaround time</a:t>
            </a:r>
            <a:r>
              <a:rPr lang="en-US" sz="1700" dirty="0"/>
              <a:t> in real time.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To enhance the </a:t>
            </a:r>
            <a:r>
              <a:rPr lang="en-US" sz="1700" b="1" dirty="0"/>
              <a:t>practical understanding</a:t>
            </a:r>
            <a:r>
              <a:rPr lang="en-US" sz="1700" dirty="0"/>
              <a:t> of CPU scheduling techniques taught in Operating Systems.</a:t>
            </a:r>
            <a:endParaRPr lang="en-IN" sz="1700" dirty="0"/>
          </a:p>
        </p:txBody>
      </p:sp>
      <p:pic>
        <p:nvPicPr>
          <p:cNvPr id="5" name="Picture 4" descr="A group of darts on a wall&#10;&#10;AI-generated content may be incorrect.">
            <a:extLst>
              <a:ext uri="{FF2B5EF4-FFF2-40B4-BE49-F238E27FC236}">
                <a16:creationId xmlns:a16="http://schemas.microsoft.com/office/drawing/2014/main" id="{74AA748F-DD2F-5E14-BF8C-42C705340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7750" r="-3" b="740"/>
          <a:stretch/>
        </p:blipFill>
        <p:spPr>
          <a:xfrm rot="16200000">
            <a:off x="7104508" y="1647605"/>
            <a:ext cx="6735097" cy="343988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595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5549-33B6-1844-6FA8-03B71026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3" y="214771"/>
            <a:ext cx="8886884" cy="953669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haroni" panose="02010803020104030203" pitchFamily="2" charset="-79"/>
                <a:cs typeface="Aharoni" panose="02010803020104030203" pitchFamily="2" charset="-79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8DA53-FE7D-D1C8-CB95-D7CC6D32C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13" y="1307690"/>
            <a:ext cx="9614471" cy="45096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15213F"/>
                </a:solidFill>
                <a:ea typeface="Roboto" pitchFamily="34" charset="-122"/>
                <a:cs typeface="Roboto" pitchFamily="34" charset="-120"/>
              </a:rPr>
              <a:t>This project leverages web technologies to create an </a:t>
            </a:r>
            <a:r>
              <a:rPr lang="en-US" sz="1800" b="1" i="1" dirty="0">
                <a:solidFill>
                  <a:srgbClr val="15213F"/>
                </a:solidFill>
                <a:ea typeface="Roboto" pitchFamily="34" charset="-122"/>
                <a:cs typeface="Roboto" pitchFamily="34" charset="-120"/>
              </a:rPr>
              <a:t>interactive CPU scheduling visualizer</a:t>
            </a:r>
            <a:r>
              <a:rPr lang="en-US" sz="1800" i="1" dirty="0">
                <a:solidFill>
                  <a:srgbClr val="15213F"/>
                </a:solidFill>
                <a:ea typeface="Roboto" pitchFamily="34" charset="-122"/>
                <a:cs typeface="Roboto" pitchFamily="34" charset="-120"/>
              </a:rPr>
              <a:t>, enabling users to simulate and compare different scheduling algorithms in real-time.</a:t>
            </a:r>
          </a:p>
          <a:p>
            <a:pPr>
              <a:lnSpc>
                <a:spcPct val="100000"/>
              </a:lnSpc>
              <a:buNone/>
            </a:pPr>
            <a:r>
              <a:rPr lang="en-IN" sz="1800" b="1" i="1" u="sng" dirty="0"/>
              <a:t>Frontend:</a:t>
            </a:r>
            <a:endParaRPr lang="en-IN" sz="1800" i="1" u="sng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1" i="1" dirty="0"/>
              <a:t>HTML5</a:t>
            </a:r>
            <a:r>
              <a:rPr lang="en-IN" sz="1800" i="1" dirty="0"/>
              <a:t>: Structures the layout of the web page.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800" b="1" i="1" dirty="0"/>
              <a:t>CSS3 / Tailwind CSS</a:t>
            </a:r>
            <a:r>
              <a:rPr lang="en-IN" sz="1800" i="1" dirty="0"/>
              <a:t>: Handles styling and responsive design.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i="1" dirty="0">
                <a:ea typeface="Roboto" pitchFamily="34" charset="-122"/>
                <a:cs typeface="Roboto" pitchFamily="34" charset="-120"/>
              </a:rPr>
              <a:t>JavaScript (Vanilla or React.js):</a:t>
            </a:r>
            <a:r>
              <a:rPr lang="en-US" sz="1800" i="1" dirty="0">
                <a:ea typeface="Roboto" pitchFamily="34" charset="-122"/>
                <a:cs typeface="Roboto" pitchFamily="34" charset="-120"/>
              </a:rPr>
              <a:t> Manages dynamic interactions and user inputs.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i="1" u="sng" dirty="0">
                <a:ea typeface="Roboto" pitchFamily="34" charset="-122"/>
                <a:cs typeface="Roboto" pitchFamily="34" charset="-120"/>
              </a:rPr>
              <a:t>Scheduling Logic Implementation:</a:t>
            </a:r>
          </a:p>
          <a:p>
            <a:pPr>
              <a:lnSpc>
                <a:spcPct val="100000"/>
              </a:lnSpc>
            </a:pPr>
            <a:r>
              <a:rPr lang="en-IN" i="1" dirty="0"/>
              <a:t>Implemented using </a:t>
            </a:r>
            <a:r>
              <a:rPr lang="en-IN" b="1" i="1" dirty="0"/>
              <a:t>pure JavaScript</a:t>
            </a:r>
            <a:endParaRPr lang="en-US" sz="1800" i="1" u="sng" dirty="0"/>
          </a:p>
          <a:p>
            <a:pPr>
              <a:lnSpc>
                <a:spcPct val="100000"/>
              </a:lnSpc>
            </a:pPr>
            <a:r>
              <a:rPr lang="en-IN" i="1" dirty="0"/>
              <a:t>Handles core logic for: </a:t>
            </a:r>
            <a:r>
              <a:rPr lang="en-US" b="1" i="1" dirty="0"/>
              <a:t>FCFS</a:t>
            </a:r>
            <a:r>
              <a:rPr lang="en-US" i="1" dirty="0"/>
              <a:t>, </a:t>
            </a:r>
            <a:r>
              <a:rPr lang="en-US" b="1" i="1" dirty="0"/>
              <a:t>SJF</a:t>
            </a:r>
            <a:r>
              <a:rPr lang="en-US" i="1" dirty="0"/>
              <a:t>, </a:t>
            </a:r>
            <a:r>
              <a:rPr lang="en-US" b="1" i="1" dirty="0"/>
              <a:t>Round Robin</a:t>
            </a:r>
            <a:r>
              <a:rPr lang="en-US" i="1" dirty="0"/>
              <a:t>, and </a:t>
            </a:r>
            <a:r>
              <a:rPr lang="en-US" b="1" i="1" dirty="0"/>
              <a:t>Priority Scheduling</a:t>
            </a:r>
            <a:endParaRPr lang="en-US" sz="1800" i="1" dirty="0">
              <a:solidFill>
                <a:srgbClr val="15213F"/>
              </a:solidFill>
              <a:ea typeface="Roboto" pitchFamily="34" charset="-122"/>
              <a:cs typeface="Roboto" pitchFamily="34" charset="-120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i="1" u="sng" dirty="0"/>
              <a:t>Development Tools:</a:t>
            </a:r>
            <a:endParaRPr lang="en-US" sz="1800" i="1" u="sng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i="1" dirty="0"/>
              <a:t>Visual Studio Code (VS Code)</a:t>
            </a:r>
            <a:r>
              <a:rPr lang="en-US" sz="1800" i="1" dirty="0"/>
              <a:t> for coding and debugging.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i="1" dirty="0"/>
              <a:t>Git</a:t>
            </a:r>
            <a:r>
              <a:rPr lang="en-US" sz="1800" i="1" dirty="0"/>
              <a:t> for version control and backup.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i="1" dirty="0"/>
          </a:p>
          <a:p>
            <a:pPr marL="0" indent="0">
              <a:buNone/>
            </a:pPr>
            <a:endParaRPr lang="en-US" sz="1800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917ED1-3F25-6E2D-8301-F77617F90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78" r="-3" b="-3"/>
          <a:stretch/>
        </p:blipFill>
        <p:spPr>
          <a:xfrm>
            <a:off x="6541011" y="3378954"/>
            <a:ext cx="5650989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6730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405922-06EE-D9F9-FF5D-94811586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6" y="-11320"/>
            <a:ext cx="7293431" cy="1768523"/>
          </a:xfrm>
        </p:spPr>
        <p:txBody>
          <a:bodyPr anchor="ctr">
            <a:normAutofit/>
          </a:bodyPr>
          <a:lstStyle/>
          <a:p>
            <a:r>
              <a:rPr lang="en-IN" sz="4400" dirty="0">
                <a:latin typeface="Aharoni" panose="02010803020104030203" pitchFamily="2" charset="-79"/>
                <a:cs typeface="Aharoni" panose="02010803020104030203" pitchFamily="2" charset="-79"/>
              </a:rPr>
              <a:t>Project Idea/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52FD2-D8FF-8C32-F93C-7407E4B43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608" y="1582994"/>
            <a:ext cx="8799386" cy="406072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i="1" dirty="0"/>
              <a:t>The </a:t>
            </a:r>
            <a:r>
              <a:rPr lang="en-US" sz="1700" b="1" i="1" dirty="0"/>
              <a:t>CPU Scheduling Algorithm Visualizer</a:t>
            </a:r>
            <a:r>
              <a:rPr lang="en-US" sz="1700" i="1" dirty="0"/>
              <a:t> is a web-based platform that allows users to interactively explore and understand the working of various </a:t>
            </a:r>
            <a:r>
              <a:rPr lang="en-US" sz="1700" b="1" i="1" dirty="0"/>
              <a:t>CPU scheduling algorithms</a:t>
            </a:r>
            <a:r>
              <a:rPr lang="en-US" sz="1700" i="1" dirty="0"/>
              <a:t>. It is designed to make the learning process of </a:t>
            </a:r>
            <a:r>
              <a:rPr lang="en-US" sz="1700" b="1" i="1" dirty="0"/>
              <a:t>Operating Systems concepts</a:t>
            </a:r>
            <a:r>
              <a:rPr lang="en-US" sz="1700" i="1" dirty="0"/>
              <a:t> more engaging and easier to grasp by providing real-time visualizations and calculated results.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700" i="1" dirty="0"/>
          </a:p>
          <a:p>
            <a:pPr marL="0" indent="0">
              <a:lnSpc>
                <a:spcPct val="110000"/>
              </a:lnSpc>
              <a:buNone/>
            </a:pPr>
            <a:endParaRPr lang="en-US" sz="1700" i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i="1" dirty="0"/>
              <a:t>The website will allow users to simulate different CPU scheduling algorithms, such as </a:t>
            </a:r>
            <a:r>
              <a:rPr lang="en-US" sz="1700" b="1" i="1" dirty="0"/>
              <a:t>First-Come, First-Served (FCFS)</a:t>
            </a:r>
            <a:r>
              <a:rPr lang="en-US" sz="1700" i="1" dirty="0"/>
              <a:t>, </a:t>
            </a:r>
            <a:r>
              <a:rPr lang="en-US" sz="1700" b="1" i="1" dirty="0"/>
              <a:t>Shortest Job First (SJF)</a:t>
            </a:r>
            <a:r>
              <a:rPr lang="en-US" sz="1700" i="1" dirty="0"/>
              <a:t>, </a:t>
            </a:r>
            <a:r>
              <a:rPr lang="en-US" sz="1700" b="1" i="1" dirty="0"/>
              <a:t>Round Robin (RR)</a:t>
            </a:r>
            <a:r>
              <a:rPr lang="en-US" sz="1700" i="1" dirty="0"/>
              <a:t>, and </a:t>
            </a:r>
            <a:r>
              <a:rPr lang="en-US" sz="1700" b="1" i="1" dirty="0"/>
              <a:t>Priority Scheduling</a:t>
            </a:r>
            <a:r>
              <a:rPr lang="en-US" sz="1700" i="1" dirty="0"/>
              <a:t>. Users can input details like </a:t>
            </a:r>
            <a:r>
              <a:rPr lang="en-US" sz="1700" b="1" i="1" dirty="0"/>
              <a:t>process arrival time</a:t>
            </a:r>
            <a:r>
              <a:rPr lang="en-US" sz="1700" i="1" dirty="0"/>
              <a:t>, </a:t>
            </a:r>
            <a:r>
              <a:rPr lang="en-US" sz="1700" b="1" i="1" dirty="0"/>
              <a:t>burst time</a:t>
            </a:r>
            <a:r>
              <a:rPr lang="en-US" sz="1700" i="1" dirty="0"/>
              <a:t>, and </a:t>
            </a:r>
            <a:r>
              <a:rPr lang="en-US" sz="1700" b="1" i="1" dirty="0"/>
              <a:t>priority</a:t>
            </a:r>
            <a:r>
              <a:rPr lang="en-US" sz="1700" i="1" dirty="0"/>
              <a:t>, and see how the algorithms schedule the processes step by step.</a:t>
            </a:r>
            <a:endParaRPr lang="en-IN" sz="1700" i="1" dirty="0"/>
          </a:p>
        </p:txBody>
      </p:sp>
      <p:pic>
        <p:nvPicPr>
          <p:cNvPr id="7" name="Picture 6" descr="A light bulb with a word&#10;&#10;AI-generated content may be incorrect.">
            <a:extLst>
              <a:ext uri="{FF2B5EF4-FFF2-40B4-BE49-F238E27FC236}">
                <a16:creationId xmlns:a16="http://schemas.microsoft.com/office/drawing/2014/main" id="{D6B0D7E9-E04B-46D3-CC19-DCE24BA15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62647" y="2467897"/>
            <a:ext cx="3329353" cy="218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1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6DB3-96F5-3962-43A1-42117ABB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160093"/>
            <a:ext cx="8886884" cy="953669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haroni" panose="02010803020104030203" pitchFamily="2" charset="-79"/>
                <a:cs typeface="Aharoni" panose="02010803020104030203" pitchFamily="2" charset="-79"/>
              </a:rPr>
              <a:t>Workflow/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0852A-40FC-930E-4218-8A2B5706A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19" y="1475502"/>
            <a:ext cx="9673465" cy="4703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The architecture of the </a:t>
            </a:r>
            <a:r>
              <a:rPr lang="en-US" b="1" i="1" dirty="0"/>
              <a:t>CPU Scheduling Algorithm Visualizer</a:t>
            </a:r>
            <a:r>
              <a:rPr lang="en-US" i="1" dirty="0"/>
              <a:t> is designed to provide a </a:t>
            </a:r>
            <a:r>
              <a:rPr lang="en-US" b="1" i="1" dirty="0"/>
              <a:t>seamless user experience</a:t>
            </a:r>
            <a:r>
              <a:rPr lang="en-US" i="1" dirty="0"/>
              <a:t> while executing scheduling algorithms and displaying real-time results.</a:t>
            </a:r>
          </a:p>
          <a:p>
            <a:pPr marL="0" indent="0">
              <a:buNone/>
            </a:pPr>
            <a:r>
              <a:rPr lang="en-US" i="1" dirty="0"/>
              <a:t>The workflow is as follows:</a:t>
            </a:r>
          </a:p>
          <a:p>
            <a:r>
              <a:rPr lang="en-US" dirty="0"/>
              <a:t>Users enter process details (arrival time, burst time, priority, time quantum).</a:t>
            </a:r>
          </a:p>
          <a:p>
            <a:r>
              <a:rPr lang="en-US" dirty="0"/>
              <a:t>Users select a CPU scheduling algorithm (FCFS, SJF, Round Robin, Priority Scheduling).</a:t>
            </a:r>
          </a:p>
          <a:p>
            <a:r>
              <a:rPr lang="en-US" dirty="0"/>
              <a:t>The algorithm is executed, calculating waiting time, turnaround time, and response time.</a:t>
            </a:r>
          </a:p>
          <a:p>
            <a:r>
              <a:rPr lang="en-US" dirty="0"/>
              <a:t>A Gantt Chart is generated, displaying the execution order and performance metrics are displayed</a:t>
            </a:r>
            <a:endParaRPr lang="en-IN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8507C-F031-62C9-7C51-BB8168BB8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103" y="2190541"/>
            <a:ext cx="2920652" cy="292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356B8-FD39-B5BC-A720-F4CCAD24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09" y="651706"/>
            <a:ext cx="8886884" cy="953669"/>
          </a:xfrm>
        </p:spPr>
        <p:txBody>
          <a:bodyPr/>
          <a:lstStyle/>
          <a:p>
            <a:pPr algn="ctr"/>
            <a:r>
              <a:rPr lang="en-IN" sz="4800" dirty="0"/>
              <a:t>Working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26E3-08BE-1EC5-76D5-5C88790B8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Our web-based CPU Scheduling Visualizer operates in a user-friendly and</a:t>
            </a:r>
          </a:p>
          <a:p>
            <a:pPr>
              <a:buNone/>
            </a:pPr>
            <a:r>
              <a:rPr lang="en-US" dirty="0"/>
              <a:t>dynamic manner. The working process is demonstrated below using screenshots: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1: Input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2: Algorithm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3: Click 'Calculate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4: Output Display</a:t>
            </a:r>
          </a:p>
          <a:p>
            <a:pPr marL="0" indent="0">
              <a:buNone/>
            </a:pPr>
            <a:r>
              <a:rPr lang="en-US" dirty="0"/>
              <a:t>Also ,user can compare the algorithms with </a:t>
            </a:r>
            <a:r>
              <a:rPr lang="en-US"/>
              <a:t>each other.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A1998A-2E71-FE82-22C4-EBF602B20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574" y="2996786"/>
            <a:ext cx="2920652" cy="292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47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6F85-B64A-CF0F-0067-038889A4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81" y="563786"/>
            <a:ext cx="8886884" cy="953669"/>
          </a:xfrm>
        </p:spPr>
        <p:txBody>
          <a:bodyPr/>
          <a:lstStyle/>
          <a:p>
            <a:pPr algn="ctr"/>
            <a:r>
              <a:rPr lang="en-IN" sz="4800" dirty="0"/>
              <a:t>Working </a:t>
            </a:r>
            <a:r>
              <a:rPr lang="en-IN" sz="2000" dirty="0"/>
              <a:t>(CONTD.)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4F928E-1E72-FB1F-743A-6D9FA2421D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174" y="1894144"/>
            <a:ext cx="7794498" cy="3676650"/>
          </a:xfrm>
        </p:spPr>
      </p:pic>
    </p:spTree>
    <p:extLst>
      <p:ext uri="{BB962C8B-B14F-4D97-AF65-F5344CB8AC3E}">
        <p14:creationId xmlns:p14="http://schemas.microsoft.com/office/powerpoint/2010/main" val="349012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0360-EA71-5A0D-91E5-0692EB61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632" y="612376"/>
            <a:ext cx="8886884" cy="953669"/>
          </a:xfrm>
        </p:spPr>
        <p:txBody>
          <a:bodyPr/>
          <a:lstStyle/>
          <a:p>
            <a:pPr algn="ctr"/>
            <a:r>
              <a:rPr lang="en-IN" sz="5400" dirty="0"/>
              <a:t>Working </a:t>
            </a:r>
            <a:r>
              <a:rPr lang="en-IN" sz="2400" dirty="0"/>
              <a:t>(CONTD.)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A349A8-0DD0-7438-F62E-D020B9555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367" y="1888511"/>
            <a:ext cx="5300038" cy="30809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080896-08F5-FBF1-11AB-D01F75FCA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119" y="1888511"/>
            <a:ext cx="5300038" cy="308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93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8C6F-498F-FCBC-7A90-645805233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1" y="169286"/>
            <a:ext cx="11326762" cy="871335"/>
          </a:xfrm>
        </p:spPr>
        <p:txBody>
          <a:bodyPr>
            <a:normAutofit/>
          </a:bodyPr>
          <a:lstStyle/>
          <a:p>
            <a:r>
              <a:rPr lang="en-US" sz="4400">
                <a:latin typeface="Aharoni" panose="02010803020104030203" pitchFamily="2" charset="-79"/>
                <a:cs typeface="Aharoni" panose="02010803020104030203" pitchFamily="2" charset="-79"/>
              </a:rPr>
              <a:t>Roles &amp; Responsibilities Of Each Member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1401D-2DD7-4597-79DD-B5BF0C540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1406014"/>
            <a:ext cx="9580058" cy="441136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800" b="1" i="1" u="sng" dirty="0"/>
              <a:t>Somil Negi – Team Lead &amp; Front End Developer</a:t>
            </a:r>
          </a:p>
          <a:p>
            <a:pPr>
              <a:lnSpc>
                <a:spcPts val="2250"/>
              </a:lnSpc>
              <a:buSzPct val="100000"/>
            </a:pPr>
            <a:r>
              <a:rPr lang="en-US" sz="1800" i="1" dirty="0">
                <a:ea typeface="Roboto" pitchFamily="34" charset="-122"/>
                <a:cs typeface="Roboto" pitchFamily="34" charset="-120"/>
              </a:rPr>
              <a:t>Managed overall project development and timeline coordination.</a:t>
            </a:r>
            <a:endParaRPr lang="en-US" sz="1800" i="1" dirty="0"/>
          </a:p>
          <a:p>
            <a:pPr>
              <a:lnSpc>
                <a:spcPts val="2250"/>
              </a:lnSpc>
              <a:buSzPct val="100000"/>
            </a:pPr>
            <a:r>
              <a:rPr lang="en-US" sz="1800" i="1" dirty="0">
                <a:ea typeface="Roboto" pitchFamily="34" charset="-122"/>
                <a:cs typeface="Roboto" pitchFamily="34" charset="-120"/>
              </a:rPr>
              <a:t>Designed and implemented the user interface for intuitive interaction</a:t>
            </a:r>
            <a:r>
              <a:rPr lang="en-US" sz="1800" dirty="0">
                <a:ea typeface="Roboto" pitchFamily="34" charset="-122"/>
                <a:cs typeface="Roboto" pitchFamily="34" charset="-120"/>
              </a:rPr>
              <a:t>.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800" b="1" i="1" u="sng" dirty="0"/>
              <a:t>Pratham Singh &amp; Khushi – </a:t>
            </a:r>
            <a:r>
              <a:rPr lang="en-US" sz="1800" b="1" i="1" u="sng" dirty="0">
                <a:ea typeface="Roboto" pitchFamily="34" charset="-122"/>
                <a:cs typeface="Roboto" pitchFamily="34" charset="-120"/>
              </a:rPr>
              <a:t>Algorithm Implementation &amp; Logic Development</a:t>
            </a:r>
          </a:p>
          <a:p>
            <a:pPr>
              <a:lnSpc>
                <a:spcPct val="100000"/>
              </a:lnSpc>
            </a:pPr>
            <a:r>
              <a:rPr lang="en-US" sz="1800" i="1" dirty="0">
                <a:ea typeface="Roboto" pitchFamily="34" charset="-122"/>
                <a:cs typeface="Roboto" pitchFamily="34" charset="-120"/>
              </a:rPr>
              <a:t>Developed scheduling algorithms (FCFS, SJF, Round Robin, Priority Scheduling) using JavaScript.</a:t>
            </a:r>
            <a:endParaRPr lang="en-US" sz="1800" i="1" dirty="0"/>
          </a:p>
          <a:p>
            <a:pPr>
              <a:lnSpc>
                <a:spcPct val="100000"/>
              </a:lnSpc>
            </a:pPr>
            <a:r>
              <a:rPr lang="en-US" sz="1800" i="1" dirty="0">
                <a:ea typeface="Roboto" pitchFamily="34" charset="-122"/>
                <a:cs typeface="Roboto" pitchFamily="34" charset="-120"/>
              </a:rPr>
              <a:t>Ensured accurate execution order and real-time performance metrics calculations.</a:t>
            </a:r>
            <a:endParaRPr lang="en-US" sz="1800" b="1" i="1" u="sng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i="1" u="sng" dirty="0"/>
              <a:t>Dikshant Singh Chib </a:t>
            </a:r>
            <a:r>
              <a:rPr lang="en-IN" sz="1800" b="1" i="1" u="sng" dirty="0"/>
              <a:t>– </a:t>
            </a:r>
            <a:r>
              <a:rPr lang="en-US" sz="1800" b="1" i="1" u="sng" dirty="0">
                <a:ea typeface="Roboto" pitchFamily="34" charset="-122"/>
                <a:cs typeface="Roboto" pitchFamily="34" charset="-120"/>
              </a:rPr>
              <a:t>UI Designer &amp; Front End Developer</a:t>
            </a:r>
          </a:p>
          <a:p>
            <a:pPr>
              <a:lnSpc>
                <a:spcPct val="100000"/>
              </a:lnSpc>
            </a:pPr>
            <a:r>
              <a:rPr lang="en-US" sz="1800" i="1" dirty="0">
                <a:ea typeface="Roboto" pitchFamily="34" charset="-122"/>
                <a:cs typeface="Roboto" pitchFamily="34" charset="-120"/>
              </a:rPr>
              <a:t>Designed the user interface to ensure it’s clean, intuitive, and responsive.</a:t>
            </a:r>
          </a:p>
          <a:p>
            <a:pPr>
              <a:lnSpc>
                <a:spcPct val="100000"/>
              </a:lnSpc>
            </a:pPr>
            <a:r>
              <a:rPr lang="en-US" sz="1800" i="1" dirty="0">
                <a:ea typeface="Roboto" pitchFamily="34" charset="-122"/>
                <a:cs typeface="Roboto" pitchFamily="34" charset="-120"/>
              </a:rPr>
              <a:t>Implemented styling using CSS  and java for modern, responsive design.</a:t>
            </a:r>
            <a:endParaRPr lang="en-IN" i="1" dirty="0"/>
          </a:p>
        </p:txBody>
      </p:sp>
      <p:pic>
        <p:nvPicPr>
          <p:cNvPr id="7" name="Picture 6" descr="A group of people putting their hands together&#10;&#10;AI-generated content may be incorrect.">
            <a:extLst>
              <a:ext uri="{FF2B5EF4-FFF2-40B4-BE49-F238E27FC236}">
                <a16:creationId xmlns:a16="http://schemas.microsoft.com/office/drawing/2014/main" id="{4BC2AFB9-89CF-1A3F-3119-2E2E562DF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92" r="-3" b="17692"/>
          <a:stretch/>
        </p:blipFill>
        <p:spPr>
          <a:xfrm rot="10800000">
            <a:off x="6919071" y="3989196"/>
            <a:ext cx="5272929" cy="2868804"/>
          </a:xfrm>
          <a:custGeom>
            <a:avLst/>
            <a:gdLst/>
            <a:ahLst/>
            <a:cxnLst/>
            <a:rect l="l" t="t" r="r" b="b"/>
            <a:pathLst>
              <a:path w="6394567" h="3479045">
                <a:moveTo>
                  <a:pt x="0" y="0"/>
                </a:moveTo>
                <a:lnTo>
                  <a:pt x="6394567" y="0"/>
                </a:lnTo>
                <a:lnTo>
                  <a:pt x="2477593" y="3073542"/>
                </a:lnTo>
                <a:lnTo>
                  <a:pt x="2435111" y="3105189"/>
                </a:lnTo>
                <a:cubicBezTo>
                  <a:pt x="2103481" y="3339382"/>
                  <a:pt x="1723470" y="3461518"/>
                  <a:pt x="1342352" y="3477290"/>
                </a:cubicBezTo>
                <a:cubicBezTo>
                  <a:pt x="1302651" y="3478932"/>
                  <a:pt x="1262940" y="3479421"/>
                  <a:pt x="1223270" y="3478762"/>
                </a:cubicBezTo>
                <a:cubicBezTo>
                  <a:pt x="786893" y="3471515"/>
                  <a:pt x="355525" y="3325396"/>
                  <a:pt x="277" y="3048974"/>
                </a:cubicBezTo>
                <a:lnTo>
                  <a:pt x="0" y="3048730"/>
                </a:ln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6D19F3-45DA-BEF3-0666-9C89D2E643FF}"/>
              </a:ext>
            </a:extLst>
          </p:cNvPr>
          <p:cNvSpPr txBox="1"/>
          <p:nvPr/>
        </p:nvSpPr>
        <p:spPr>
          <a:xfrm>
            <a:off x="12007270" y="6657945"/>
            <a:ext cx="1847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endParaRPr lang="en-IN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562469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608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Aharoni</vt:lpstr>
      <vt:lpstr>Arial</vt:lpstr>
      <vt:lpstr>Neue Haas Grotesk Text Pro</vt:lpstr>
      <vt:lpstr>Roboto</vt:lpstr>
      <vt:lpstr>SwellVTI</vt:lpstr>
      <vt:lpstr>CPU Scheduling Algorithm Visualizer</vt:lpstr>
      <vt:lpstr>Objective</vt:lpstr>
      <vt:lpstr>Technology Stack</vt:lpstr>
      <vt:lpstr>Project Idea/ Overview</vt:lpstr>
      <vt:lpstr>Workflow/ Architecture</vt:lpstr>
      <vt:lpstr>Working </vt:lpstr>
      <vt:lpstr>Working (CONTD.)</vt:lpstr>
      <vt:lpstr>Working (CONTD.)</vt:lpstr>
      <vt:lpstr>Roles &amp; Responsibilities Of Each 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Somil Negi</dc:creator>
  <cp:lastModifiedBy>Khushi Rawat</cp:lastModifiedBy>
  <cp:revision>3</cp:revision>
  <dcterms:created xsi:type="dcterms:W3CDTF">2025-04-20T16:34:52Z</dcterms:created>
  <dcterms:modified xsi:type="dcterms:W3CDTF">2025-05-26T06:20:30Z</dcterms:modified>
</cp:coreProperties>
</file>